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2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82" autoAdjust="0"/>
    <p:restoredTop sz="94703"/>
  </p:normalViewPr>
  <p:slideViewPr>
    <p:cSldViewPr snapToGrid="0">
      <p:cViewPr varScale="1">
        <p:scale>
          <a:sx n="128" d="100"/>
          <a:sy n="128" d="100"/>
        </p:scale>
        <p:origin x="35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75A48-E991-476C-77C5-0E4DDCF7A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23EF9E-DBDD-F1D0-50AC-0FC7790F82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FBA64-A724-2292-D372-DF292704A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3A7D0-A85F-4D08-B99D-B00FC9A3BB1A}" type="datetimeFigureOut">
              <a:rPr lang="en-US" smtClean="0"/>
              <a:t>5/2/24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DF8C1-DE28-74A5-D401-58B054752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ECCDF-B255-4C57-43E0-F04745C6A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3AA1E-E560-4826-9669-7442E4B9B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077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94E80-57DE-1BB7-F159-ED9FEB2D2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10C0B-2B16-6F53-3C5D-1AEB1F6BC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E8A7C-A4C2-BCAC-E687-0CA3662DC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3A7D0-A85F-4D08-B99D-B00FC9A3BB1A}" type="datetimeFigureOut">
              <a:rPr lang="en-US" smtClean="0"/>
              <a:t>5/2/24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8C8C4-0EE7-7E7C-FCC9-9F443B752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23933-0581-8B80-9DC0-EDABE3CA2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3AA1E-E560-4826-9669-7442E4B9B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804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B785A-A413-1582-FA27-B7AF41275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C4500-4245-7D84-FFA7-B338474B1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5EF59-DA35-F70F-2BCC-BCAE65362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3A7D0-A85F-4D08-B99D-B00FC9A3BB1A}" type="datetimeFigureOut">
              <a:rPr lang="en-US" smtClean="0"/>
              <a:t>5/2/24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A639FC-844B-D136-2D6B-949A5029D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0439-D148-6169-F191-D551846B4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3AA1E-E560-4826-9669-7442E4B9B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16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35F74-9C1A-ABDD-7331-D2AEE1F29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5D444-3F39-4C15-5E1D-4B28A8184B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3E73EA-DA62-33D8-B048-B977D52767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2FAC0C-79DD-5C77-02B0-6DEC2DD3E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3A7D0-A85F-4D08-B99D-B00FC9A3BB1A}" type="datetimeFigureOut">
              <a:rPr lang="en-US" smtClean="0"/>
              <a:t>5/2/24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B7F80-DEDD-D22A-A7CD-3BB96E37D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36CE8F-CC03-FDB6-F619-F0227E21C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3AA1E-E560-4826-9669-7442E4B9B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282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F6DD8-1462-1567-783E-A328EF515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D4EC6B-EE1D-A685-60AC-733206FA06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B7BC3E-994B-7845-7EEB-6E93137E3F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0385DC-DEE7-6327-0EB9-354B1A071E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037610-2314-CC20-2F58-D7C7E56906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7778A7-A0BE-6D9F-401C-45BB3F180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3A7D0-A85F-4D08-B99D-B00FC9A3BB1A}" type="datetimeFigureOut">
              <a:rPr lang="en-US" smtClean="0"/>
              <a:t>5/2/24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FE2D55-157B-A279-FD7C-D6E16AB68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8D0D0D-E74A-BDBA-DD3E-4295A5E58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3AA1E-E560-4826-9669-7442E4B9B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545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1CD45-913F-C57C-3302-33745FAEC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84EE57-1197-94B9-481A-9EA42A682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3A7D0-A85F-4D08-B99D-B00FC9A3BB1A}" type="datetimeFigureOut">
              <a:rPr lang="en-US" smtClean="0"/>
              <a:t>5/2/24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D8F8A9-F394-E498-CFF0-0C08F9EF0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EBF66B-53EC-AC7A-A7CD-1D1AC11C0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3AA1E-E560-4826-9669-7442E4B9B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627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A95030-4148-3133-AF22-73B2696BC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3A7D0-A85F-4D08-B99D-B00FC9A3BB1A}" type="datetimeFigureOut">
              <a:rPr lang="en-US" smtClean="0"/>
              <a:t>5/2/24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3A77AF-9ECC-5E14-4F22-B46EEC660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AD856-499E-8EFF-A97A-6E279F60B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3AA1E-E560-4826-9669-7442E4B9B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871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68597-0E5A-F5DE-B1E6-35588384D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2DB8D-4C5E-6E0A-8C78-7E84A622D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FA5353-2EFC-4042-04D7-534A06BDA5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99D3C1-DFD3-CCCE-9B38-FCDFE1CE4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3A7D0-A85F-4D08-B99D-B00FC9A3BB1A}" type="datetimeFigureOut">
              <a:rPr lang="en-US" smtClean="0"/>
              <a:t>5/2/24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4EACDF-A11E-27F0-2B9C-6A50704FB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412BA-E8E0-5C7C-50A3-F4E82D5C4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3AA1E-E560-4826-9669-7442E4B9B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375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94FDA-0926-D653-89D6-5EAC27F6F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C01D5F-FC69-275B-8BEA-FEBBD54C02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90BAD2-163E-22FD-EF48-AB595C3002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26004F-37A9-4C30-7C3E-2D05E80B2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3A7D0-A85F-4D08-B99D-B00FC9A3BB1A}" type="datetimeFigureOut">
              <a:rPr lang="en-US" smtClean="0"/>
              <a:t>5/2/24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8E154C-8C4F-1915-DC10-1299DF330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E3A990-36B5-936F-DDE1-81CD02381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3AA1E-E560-4826-9669-7442E4B9B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193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AAE09-C519-3649-2D9C-397C22370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E1562F-15D8-B480-EDF3-604637F5C9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6AC45-1BF5-A8EB-4AA7-E4CC62757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3A7D0-A85F-4D08-B99D-B00FC9A3BB1A}" type="datetimeFigureOut">
              <a:rPr lang="en-US" smtClean="0"/>
              <a:t>5/2/24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5E79E-9649-A4B4-30FB-29B1E124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578C7-17DA-84A7-9BB1-03572772A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3AA1E-E560-4826-9669-7442E4B9B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467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3491D6-6CF1-5937-2F19-F75E72D5F8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305ECA-897B-7624-FFA0-0C6B2D355D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5A993E-DC70-DBC7-95B3-58F90175A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3A7D0-A85F-4D08-B99D-B00FC9A3BB1A}" type="datetimeFigureOut">
              <a:rPr lang="en-US" smtClean="0"/>
              <a:t>5/2/24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07CE2-CBFD-D70D-3316-1D788A0A6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79F1C-EECF-96E7-5F5B-70CF20464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3AA1E-E560-4826-9669-7442E4B9B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680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60DDC5-251C-3FD4-67C4-FE275A4AD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368F4C-375C-E69D-E391-B3F65FBD7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6FE01-A102-DCD7-0188-BF8526A0D3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43A7D0-A85F-4D08-B99D-B00FC9A3BB1A}" type="datetimeFigureOut">
              <a:rPr lang="en-US" smtClean="0"/>
              <a:t>5/2/24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22E3C-7873-8234-76E5-5F1C225069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48339-A983-819A-5758-604800A585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C3AA1E-E560-4826-9669-7442E4B9B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673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9D6B5-0BF2-B137-798E-0753E26CB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7626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i="0" dirty="0" err="1">
                <a:effectLst/>
                <a:latin typeface="Söhne"/>
              </a:rPr>
              <a:t>Gardein’s</a:t>
            </a:r>
            <a:r>
              <a:rPr lang="en-US" sz="4000" b="1" i="0" dirty="0">
                <a:effectLst/>
                <a:latin typeface="Söhne"/>
              </a:rPr>
              <a:t> Growth Strategy: Closing the Gap with Morningstar Farms</a:t>
            </a:r>
            <a:endParaRPr lang="en-US" sz="40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C3D38E7-19F4-82BA-C502-C4EA41D5C9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216" y="2472965"/>
            <a:ext cx="5305425" cy="2114550"/>
          </a:xfrm>
          <a:prstGeom prst="rect">
            <a:avLst/>
          </a:prstGeom>
          <a:noFill/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D969A188-58B4-E336-6541-E946189A6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361" y="2978870"/>
            <a:ext cx="5037628" cy="1399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FF0D9122-316F-B3A9-BB58-ACDFBE896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                                  </a:t>
            </a:r>
            <a:br>
              <a:rPr lang="en-US" dirty="0"/>
            </a:br>
            <a:r>
              <a:rPr lang="en-US" dirty="0"/>
              <a:t>                                                              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                                                               VS</a:t>
            </a:r>
          </a:p>
        </p:txBody>
      </p:sp>
    </p:spTree>
    <p:extLst>
      <p:ext uri="{BB962C8B-B14F-4D97-AF65-F5344CB8AC3E}">
        <p14:creationId xmlns:p14="http://schemas.microsoft.com/office/powerpoint/2010/main" val="1656124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C1ED0-A757-FD0D-CF7B-E862AFC57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9968948" cy="955780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24CD1-D06C-A6A1-2408-5EFF5C846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3331"/>
            <a:ext cx="10515600" cy="3328608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Söhne"/>
              </a:rPr>
              <a:t>Objective:</a:t>
            </a:r>
            <a:r>
              <a:rPr lang="en-US" b="0" i="0" dirty="0">
                <a:effectLst/>
                <a:latin typeface="Söhne"/>
              </a:rPr>
              <a:t> </a:t>
            </a:r>
            <a:r>
              <a:rPr lang="en-US" i="0" dirty="0">
                <a:effectLst/>
                <a:latin typeface="Söhne"/>
              </a:rPr>
              <a:t>Transform </a:t>
            </a:r>
            <a:r>
              <a:rPr lang="en-US" i="0" dirty="0" err="1">
                <a:effectLst/>
                <a:latin typeface="Söhne"/>
              </a:rPr>
              <a:t>Gardein</a:t>
            </a:r>
            <a:r>
              <a:rPr lang="en-US" i="0" dirty="0">
                <a:effectLst/>
                <a:latin typeface="Söhne"/>
              </a:rPr>
              <a:t> into the leading meat substitute brand by strategically enhancing product, brand, and market presence.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Söhne"/>
              </a:rPr>
              <a:t>Focus:</a:t>
            </a:r>
            <a:r>
              <a:rPr lang="en-US" b="0" i="0" dirty="0">
                <a:effectLst/>
                <a:latin typeface="Söhne"/>
              </a:rPr>
              <a:t> </a:t>
            </a:r>
            <a:r>
              <a:rPr lang="en-US" i="0" dirty="0">
                <a:effectLst/>
                <a:latin typeface="Söhne"/>
              </a:rPr>
              <a:t>Evaluate how to surpass </a:t>
            </a:r>
            <a:r>
              <a:rPr lang="en-US" dirty="0">
                <a:latin typeface="Söhne"/>
              </a:rPr>
              <a:t>competitive brands</a:t>
            </a:r>
            <a:r>
              <a:rPr lang="en-US" i="0" dirty="0">
                <a:effectLst/>
                <a:latin typeface="Söhne"/>
              </a:rPr>
              <a:t> using data-driven insights and actionable recommendations.</a:t>
            </a:r>
          </a:p>
          <a:p>
            <a:r>
              <a:rPr lang="en-US" b="1" dirty="0"/>
              <a:t>Market Growth:  </a:t>
            </a:r>
            <a:r>
              <a:rPr lang="en-US" dirty="0"/>
              <a:t>In</a:t>
            </a:r>
            <a:r>
              <a:rPr lang="en-US" b="1" dirty="0"/>
              <a:t> </a:t>
            </a:r>
            <a:r>
              <a:rPr lang="en-US" dirty="0"/>
              <a:t>the dynamic market of meat substitutes, growth rate of 7% annually is observed.</a:t>
            </a:r>
          </a:p>
        </p:txBody>
      </p:sp>
      <p:pic>
        <p:nvPicPr>
          <p:cNvPr id="1038" name="Picture 14">
            <a:extLst>
              <a:ext uri="{FF2B5EF4-FFF2-40B4-BE49-F238E27FC236}">
                <a16:creationId xmlns:a16="http://schemas.microsoft.com/office/drawing/2014/main" id="{90DF9AD7-9915-BA95-B2CD-6D512DC0B6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3443" y="3763478"/>
            <a:ext cx="2858778" cy="284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5406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3393B-69F0-7965-178C-E3F3CFA4C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9024730" cy="916023"/>
          </a:xfrm>
        </p:spPr>
        <p:txBody>
          <a:bodyPr/>
          <a:lstStyle/>
          <a:p>
            <a:r>
              <a:rPr lang="en-US" dirty="0"/>
              <a:t>MARKET SHARE ANALYSIS</a:t>
            </a:r>
          </a:p>
        </p:txBody>
      </p:sp>
      <p:pic>
        <p:nvPicPr>
          <p:cNvPr id="4" name="Content Placeholder 3" descr="A pie chart with numbers and text&#10;&#10;Description automatically generated">
            <a:extLst>
              <a:ext uri="{FF2B5EF4-FFF2-40B4-BE49-F238E27FC236}">
                <a16:creationId xmlns:a16="http://schemas.microsoft.com/office/drawing/2014/main" id="{73A56EBB-4887-E4FE-EDCF-1E305716096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88490" y="1428330"/>
            <a:ext cx="2785554" cy="2231579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1FFA94A-0E11-94D2-5C5B-FAD07FC95F7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Overall Market Share:</a:t>
            </a: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D0D0D"/>
                </a:solidFill>
                <a:effectLst/>
                <a:latin typeface="Söhne"/>
              </a:rPr>
              <a:t>Morningstar Farms: 14.6%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i="0" dirty="0" err="1">
                <a:solidFill>
                  <a:srgbClr val="0D0D0D"/>
                </a:solidFill>
                <a:effectLst/>
                <a:latin typeface="Söhne"/>
              </a:rPr>
              <a:t>Gardein</a:t>
            </a:r>
            <a:r>
              <a:rPr lang="en-US" i="0" dirty="0">
                <a:solidFill>
                  <a:srgbClr val="0D0D0D"/>
                </a:solidFill>
                <a:effectLst/>
                <a:latin typeface="Söhne"/>
              </a:rPr>
              <a:t>: 13% (Opportunity: +1.6 percentage points)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Original Meat Source (</a:t>
            </a:r>
            <a:r>
              <a:rPr lang="en-US" b="1" i="0" dirty="0" err="1">
                <a:solidFill>
                  <a:srgbClr val="0D0D0D"/>
                </a:solidFill>
                <a:effectLst/>
                <a:latin typeface="Söhne"/>
              </a:rPr>
              <a:t>Flavour</a:t>
            </a: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):</a:t>
            </a: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D0D0D"/>
                </a:solidFill>
                <a:effectLst/>
                <a:latin typeface="Söhne"/>
              </a:rPr>
              <a:t>Morningstar Farms: 33.5%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i="0" dirty="0" err="1">
                <a:solidFill>
                  <a:srgbClr val="0D0D0D"/>
                </a:solidFill>
                <a:effectLst/>
                <a:latin typeface="Söhne"/>
              </a:rPr>
              <a:t>Gardein</a:t>
            </a:r>
            <a:r>
              <a:rPr lang="en-US" i="0" dirty="0">
                <a:solidFill>
                  <a:srgbClr val="0D0D0D"/>
                </a:solidFill>
                <a:effectLst/>
                <a:latin typeface="Söhne"/>
              </a:rPr>
              <a:t>: 9% (Opportunity: +24.5 percentage points)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Plant-Based Substitutes:</a:t>
            </a: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D0D0D"/>
                </a:solidFill>
                <a:effectLst/>
                <a:latin typeface="Söhne"/>
              </a:rPr>
              <a:t>Morningstar Farms: 33.5%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i="0" dirty="0" err="1">
                <a:solidFill>
                  <a:srgbClr val="0D0D0D"/>
                </a:solidFill>
                <a:effectLst/>
                <a:latin typeface="Söhne"/>
              </a:rPr>
              <a:t>Gardein</a:t>
            </a:r>
            <a:r>
              <a:rPr lang="en-US" i="0" dirty="0">
                <a:solidFill>
                  <a:srgbClr val="0D0D0D"/>
                </a:solidFill>
                <a:effectLst/>
                <a:latin typeface="Söhne"/>
              </a:rPr>
              <a:t>: 16% (Opportunity: +17.5 percentage points)</a:t>
            </a:r>
          </a:p>
          <a:p>
            <a:endParaRPr lang="en-US" dirty="0"/>
          </a:p>
        </p:txBody>
      </p:sp>
      <p:pic>
        <p:nvPicPr>
          <p:cNvPr id="6" name="image1.png" descr="A graph of different colored bars&#10;&#10;Description automatically generated">
            <a:extLst>
              <a:ext uri="{FF2B5EF4-FFF2-40B4-BE49-F238E27FC236}">
                <a16:creationId xmlns:a16="http://schemas.microsoft.com/office/drawing/2014/main" id="{08C84FF1-8F5C-939D-DE85-4E0B424FC275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606392" y="3866218"/>
            <a:ext cx="4716379" cy="258935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01856B-6841-4935-390F-AB59E3B6DDDB}"/>
              </a:ext>
            </a:extLst>
          </p:cNvPr>
          <p:cNvSpPr txBox="1"/>
          <p:nvPr/>
        </p:nvSpPr>
        <p:spPr>
          <a:xfrm>
            <a:off x="99392" y="768688"/>
            <a:ext cx="7494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Used </a:t>
            </a:r>
            <a:r>
              <a:rPr lang="en-US" b="1" dirty="0"/>
              <a:t>bivariate analysis </a:t>
            </a:r>
            <a:r>
              <a:rPr lang="en-US" dirty="0"/>
              <a:t>to find Morningstar as the biggest competitor and market share holder.</a:t>
            </a:r>
          </a:p>
        </p:txBody>
      </p:sp>
    </p:spTree>
    <p:extLst>
      <p:ext uri="{BB962C8B-B14F-4D97-AF65-F5344CB8AC3E}">
        <p14:creationId xmlns:p14="http://schemas.microsoft.com/office/powerpoint/2010/main" val="3095153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3393B-69F0-7965-178C-E3F3CFA4C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18147"/>
          </a:xfrm>
        </p:spPr>
        <p:txBody>
          <a:bodyPr/>
          <a:lstStyle/>
          <a:p>
            <a:r>
              <a:rPr lang="en-US" dirty="0"/>
              <a:t>Competitor Insights</a:t>
            </a:r>
          </a:p>
        </p:txBody>
      </p:sp>
      <p:pic>
        <p:nvPicPr>
          <p:cNvPr id="8" name="Picture 7" descr="A close up of a package&#10;&#10;Description automatically generated">
            <a:extLst>
              <a:ext uri="{FF2B5EF4-FFF2-40B4-BE49-F238E27FC236}">
                <a16:creationId xmlns:a16="http://schemas.microsoft.com/office/drawing/2014/main" id="{20155A93-622B-9B7E-9A0A-F9645218B4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233" r="29225"/>
          <a:stretch/>
        </p:blipFill>
        <p:spPr bwMode="auto">
          <a:xfrm>
            <a:off x="6013174" y="3131162"/>
            <a:ext cx="2588645" cy="203962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Picture 8" descr="A screenshot of a product&#10;&#10;Description automatically generated">
            <a:extLst>
              <a:ext uri="{FF2B5EF4-FFF2-40B4-BE49-F238E27FC236}">
                <a16:creationId xmlns:a16="http://schemas.microsoft.com/office/drawing/2014/main" id="{0F315336-9682-7015-DFC7-3113BBD1CC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7375" t="16832" r="23093"/>
          <a:stretch/>
        </p:blipFill>
        <p:spPr bwMode="auto">
          <a:xfrm>
            <a:off x="8926208" y="3131162"/>
            <a:ext cx="1713865" cy="264350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06035EC2-44F4-C2C6-75DE-4A33DF5E4A20}"/>
              </a:ext>
            </a:extLst>
          </p:cNvPr>
          <p:cNvSpPr txBox="1">
            <a:spLocks/>
          </p:cNvSpPr>
          <p:nvPr/>
        </p:nvSpPr>
        <p:spPr>
          <a:xfrm>
            <a:off x="51119" y="3131162"/>
            <a:ext cx="6798365" cy="1668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 Improvement Opportunities: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Health-focused messaging, Diverse product portfolio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product messaging, increase product variety.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and environmental messaging, Innovative ingredients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branding, innovate with unique flavors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DA2963-FE7E-096A-5260-6AB5A5314DFE}"/>
              </a:ext>
            </a:extLst>
          </p:cNvPr>
          <p:cNvSpPr txBox="1"/>
          <p:nvPr/>
        </p:nvSpPr>
        <p:spPr>
          <a:xfrm>
            <a:off x="0" y="830336"/>
            <a:ext cx="1202634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Health Messaging: MorningStar Farms highlights health benefits like "50% less fat than chicken patties" on their packaging, aligning their products with health-conscious consumer trends.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Ethical and Environmental Commitments: Companies like Beyond Meat and Impossible Foods emphasize sustainability and ethical practices, which resonate with environmentally conscious consumers and enhance brand loyalty.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Innovative Ingredients: Beyond Meat and Impossible Foods use innovative ingredients such as avocado oil and “heme” to cater to nutritional preferences and provide a meat-like experience, respectively.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Diverse Product Portfolios and Partnerships: Both brands offer a wide range of products and have formed strategic alliances with restaurants to increase product visibility and consumer trial.</a:t>
            </a:r>
          </a:p>
        </p:txBody>
      </p:sp>
    </p:spTree>
    <p:extLst>
      <p:ext uri="{BB962C8B-B14F-4D97-AF65-F5344CB8AC3E}">
        <p14:creationId xmlns:p14="http://schemas.microsoft.com/office/powerpoint/2010/main" val="3605055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3393B-69F0-7965-178C-E3F3CFA4C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6351103" cy="864703"/>
          </a:xfrm>
        </p:spPr>
        <p:txBody>
          <a:bodyPr>
            <a:normAutofit/>
          </a:bodyPr>
          <a:lstStyle/>
          <a:p>
            <a:r>
              <a:rPr lang="en-US" dirty="0"/>
              <a:t>REGRESSION ANALYSIS: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7894AD3-24BE-9846-2EF3-664AE422BF0E}"/>
              </a:ext>
            </a:extLst>
          </p:cNvPr>
          <p:cNvSpPr txBox="1">
            <a:spLocks/>
          </p:cNvSpPr>
          <p:nvPr/>
        </p:nvSpPr>
        <p:spPr>
          <a:xfrm>
            <a:off x="43070" y="725557"/>
            <a:ext cx="8067260" cy="9839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800" dirty="0"/>
          </a:p>
          <a:p>
            <a:r>
              <a:rPr lang="en-US" sz="1800" dirty="0"/>
              <a:t>Regression model: Dollar Sales ~ ß0 + ß1(label ounces) + ß2(price per unit) + ß3(ACU weighted distribution) + ß4(geography) + ß5(product) + ß6(brand franchise name) + ß7(meat source) + e.</a:t>
            </a:r>
          </a:p>
          <a:p>
            <a:endParaRPr lang="en-US" sz="1800" dirty="0"/>
          </a:p>
        </p:txBody>
      </p:sp>
      <p:pic>
        <p:nvPicPr>
          <p:cNvPr id="7" name="Picture 6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F3F004CB-2F3A-EF25-4C17-5D04C402E50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974" r="28457"/>
          <a:stretch/>
        </p:blipFill>
        <p:spPr bwMode="auto">
          <a:xfrm>
            <a:off x="8427816" y="0"/>
            <a:ext cx="3585845" cy="1117600"/>
          </a:xfrm>
          <a:prstGeom prst="rect">
            <a:avLst/>
          </a:prstGeom>
          <a:ln>
            <a:solidFill>
              <a:srgbClr val="000000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5E3508B-D55F-CDF5-A78A-2298F65082C7}"/>
              </a:ext>
            </a:extLst>
          </p:cNvPr>
          <p:cNvSpPr txBox="1"/>
          <p:nvPr/>
        </p:nvSpPr>
        <p:spPr>
          <a:xfrm>
            <a:off x="43069" y="1709530"/>
            <a:ext cx="11078817" cy="4458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en-IN" sz="1400" b="1" dirty="0">
                <a:solidFill>
                  <a:srgbClr val="1F4D7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 SUMMARY</a:t>
            </a:r>
            <a:endParaRPr lang="en-US" sz="1400" b="1" dirty="0">
              <a:solidFill>
                <a:srgbClr val="1F4D78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Dependent Variable: Dollar Sales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I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R-squared: 0.895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indicating that about 89.5% of the variance in Dollar Sales is explained by the model.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I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Adjusted R-squared: 0.893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adjusting for the number of predictors.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I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F-statistic: 400.9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showing the overall significance of the model.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I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P-value (F-statistic): 0.003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which is very low, indicating the model is statistically significant.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Coefficients and Interpretation: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I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Total Ounces: Positive coefficient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implying a marginally positive relationship with Dollar Sales. (p-value = 0.066 suggests marginal statistical significance)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I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UPC 13 digit: Negative coefficient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which might not be meaningful due to its scale. Statistically significant (p-value &lt; 0.05).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I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Price per Unit: Negative coefficient,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suggesting that as the price per unit increases, Dollar Sales decrease. Statistically significant (p-value = 0.047).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I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ACV Weighted Distribution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A very </a:t>
            </a:r>
            <a:r>
              <a:rPr lang="en-I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strong positive coefficient</a:t>
            </a: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highly significant, indicating a positive relationship between distribution and sales (p-value &lt; 0.05).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6721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3393B-69F0-7965-178C-E3F3CFA4C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468139" cy="838033"/>
          </a:xfrm>
        </p:spPr>
        <p:txBody>
          <a:bodyPr/>
          <a:lstStyle/>
          <a:p>
            <a:r>
              <a:rPr lang="en-US" dirty="0"/>
              <a:t>REGIONAL ANALYSIS: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DEC88DF-DCC2-861A-520B-E6F636CDE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779" y="2231149"/>
            <a:ext cx="5215323" cy="4008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3747BE8-F1F0-175B-3C89-618FD6C9F17E}"/>
              </a:ext>
            </a:extLst>
          </p:cNvPr>
          <p:cNvSpPr txBox="1">
            <a:spLocks/>
          </p:cNvSpPr>
          <p:nvPr/>
        </p:nvSpPr>
        <p:spPr>
          <a:xfrm>
            <a:off x="102110" y="618632"/>
            <a:ext cx="10997978" cy="15193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Coefficients based on Regression Analysis along with data analysis.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Top-Performing Regions: Mid-South (393.10), Northeast (538.81), Southeast (217.51)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Underperforming Regions: Plains (-473.80), South Central (-165.05)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39F3BD-DBC5-2263-8537-21AF90F22B03}"/>
              </a:ext>
            </a:extLst>
          </p:cNvPr>
          <p:cNvSpPr txBox="1"/>
          <p:nvPr/>
        </p:nvSpPr>
        <p:spPr>
          <a:xfrm>
            <a:off x="5534770" y="2138010"/>
            <a:ext cx="58667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Northeast region shows a potential increase in sales by 30%, based on regression coefficients.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South Central and Plains need strategic revisions to improve Dollar Sales value. </a:t>
            </a:r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106A15-56AD-9F67-3BA7-6E2EC1D8B2B1}"/>
              </a:ext>
            </a:extLst>
          </p:cNvPr>
          <p:cNvSpPr txBox="1"/>
          <p:nvPr/>
        </p:nvSpPr>
        <p:spPr>
          <a:xfrm>
            <a:off x="5601099" y="3779325"/>
            <a:ext cx="6221894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Product Performance Based on Regression Findings and Market Analysis: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High-performing product: Regular Meat Substitute Burger 12 OZ, potential to increase sales by 15% in the next year.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Underperforming product: Spicy Meat Substitute Breakfast Patty 8 OZ, sales down by 5% last quarter.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305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FE6265-C56F-2111-D987-985BE782F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951304" cy="606287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 Suggestions and Expected Return: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0C339F-53E9-1BAD-61AD-D30FA87C516E}"/>
              </a:ext>
            </a:extLst>
          </p:cNvPr>
          <p:cNvSpPr txBox="1"/>
          <p:nvPr/>
        </p:nvSpPr>
        <p:spPr>
          <a:xfrm>
            <a:off x="0" y="812563"/>
            <a:ext cx="12192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Market Share Growth: Potential $80 million increase in sales from 1.6 percentage point market share gain.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Regional Sales Growth: Additional $50 million from Northeast and $40 million from Mid-South.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Product Growth: Additional $50 million from </a:t>
            </a:r>
            <a:r>
              <a:rPr lang="en-US" b="1" dirty="0"/>
              <a:t>promoting high-performing products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Product Expansion Strategy: Introducing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innovative substitutes for seafood and ham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will strategically position the </a:t>
            </a:r>
          </a:p>
          <a:p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company to capitalize on underexplored market segments, </a:t>
            </a:r>
            <a:r>
              <a:rPr lang="en-US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fostering growth in areas with minimal competition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Focus on </a:t>
            </a:r>
            <a:r>
              <a:rPr lang="en-US" b="1" dirty="0"/>
              <a:t>distribution enhancements </a:t>
            </a:r>
            <a:r>
              <a:rPr lang="en-US" dirty="0"/>
              <a:t>could lead to a sales increase of approximately $50 million annually.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Optimizing </a:t>
            </a:r>
            <a:r>
              <a:rPr lang="en-US" b="1" dirty="0"/>
              <a:t>pricing strategies </a:t>
            </a:r>
            <a:r>
              <a:rPr lang="en-US" dirty="0"/>
              <a:t>could reduce the </a:t>
            </a:r>
            <a:r>
              <a:rPr lang="en-US" b="1" dirty="0"/>
              <a:t>price elasticity impact by 0.2</a:t>
            </a:r>
            <a:r>
              <a:rPr lang="en-US" dirty="0"/>
              <a:t>, enhancing dollar sales by 10%.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Gardein can achieve a competitive edge by addressing </a:t>
            </a:r>
            <a:r>
              <a:rPr lang="en-US" b="1" dirty="0"/>
              <a:t>regional performance gaps </a:t>
            </a:r>
            <a:r>
              <a:rPr lang="en-US" dirty="0"/>
              <a:t>and optimizing product offerings for niche markets.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48C8BE-CC5D-5B43-0DD5-3BFDE68B1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395" y="3647659"/>
            <a:ext cx="4736520" cy="31393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5E70A8-6E92-060B-A82D-EB36C9A221AC}"/>
              </a:ext>
            </a:extLst>
          </p:cNvPr>
          <p:cNvSpPr txBox="1"/>
          <p:nvPr/>
        </p:nvSpPr>
        <p:spPr>
          <a:xfrm>
            <a:off x="5127887" y="3951884"/>
            <a:ext cx="71919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Targeted strategies could potentially increase </a:t>
            </a:r>
            <a:r>
              <a:rPr lang="en-US" b="1" dirty="0"/>
              <a:t>overall market share </a:t>
            </a:r>
          </a:p>
          <a:p>
            <a:r>
              <a:rPr lang="en-US" b="1" dirty="0"/>
              <a:t>by 2%</a:t>
            </a:r>
            <a:r>
              <a:rPr lang="en-US" dirty="0"/>
              <a:t> in the next fiscal year (for California).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621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FE6265-C56F-2111-D987-985BE782F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951304" cy="606287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0C339F-53E9-1BAD-61AD-D30FA87C516E}"/>
              </a:ext>
            </a:extLst>
          </p:cNvPr>
          <p:cNvSpPr txBox="1"/>
          <p:nvPr/>
        </p:nvSpPr>
        <p:spPr>
          <a:xfrm>
            <a:off x="0" y="981529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Conclusion</a:t>
            </a:r>
            <a:r>
              <a:rPr lang="en-US" dirty="0"/>
              <a:t>: By targeting strategic geographic regions, enhancing product offerings, and optimizing operations, Gardein can not only bridge the gap with competitors but also lead in innovation and growth in the plant-based meat industry.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C483D2-7FC9-B7A6-90F4-0FABADF858BD}"/>
              </a:ext>
            </a:extLst>
          </p:cNvPr>
          <p:cNvSpPr txBox="1"/>
          <p:nvPr/>
        </p:nvSpPr>
        <p:spPr>
          <a:xfrm>
            <a:off x="89536" y="2003102"/>
            <a:ext cx="11575605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n-US" sz="1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Market Analysis and Strategic Direction for Gardein (2020-2023)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Market Positioning: Gardein holds a 13% market share in the competitive meat substitute sector with 17,307 units sold in 2023, </a:t>
            </a:r>
          </a:p>
          <a:p>
            <a:pPr rtl="0"/>
            <a:r>
              <a:rPr lang="en-US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slightly behind Morningstar Farms. Increasing market share by 1.6 percentage points could boost revenue by $80 million.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Geographic Expansion: Focusing on the Northeast and Mid-South regions could increase revenue by $90 million, </a:t>
            </a:r>
          </a:p>
          <a:p>
            <a:pPr rtl="0"/>
            <a:r>
              <a:rPr lang="en-US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exploiting their high sales impact coefficients of 538.81 and 393.10, respectively.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 Performance: The Regular Meat Substitute Burger shows strong market preference with a regression coefficient of 617.97, </a:t>
            </a:r>
          </a:p>
          <a:p>
            <a:pPr rtl="0"/>
            <a:r>
              <a:rPr lang="en-US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suggesting potential for an additional $50 million in annual sales through increased production and marketing.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Innovative Product Launches and Operational Enhancements: Introducing new products like ground meat substitutes and chicken strips could generate an </a:t>
            </a:r>
          </a:p>
          <a:p>
            <a:pPr rtl="0"/>
            <a:r>
              <a:rPr lang="en-US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additional $30 million. Operational improvements could further increase sales volume by 15%, translating to an extra $60 million in revenue.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025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1028</Words>
  <Application>Microsoft Macintosh PowerPoint</Application>
  <PresentationFormat>Widescreen</PresentationFormat>
  <Paragraphs>73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Söhne</vt:lpstr>
      <vt:lpstr>Times New Roman</vt:lpstr>
      <vt:lpstr>Office Theme</vt:lpstr>
      <vt:lpstr>Gardein’s Growth Strategy: Closing the Gap with Morningstar Farms</vt:lpstr>
      <vt:lpstr>INTRODUCTION</vt:lpstr>
      <vt:lpstr>MARKET SHARE ANALYSIS</vt:lpstr>
      <vt:lpstr>Competitor Insights</vt:lpstr>
      <vt:lpstr>REGRESSION ANALYSIS:</vt:lpstr>
      <vt:lpstr>REGIONAL ANALYSIS: </vt:lpstr>
      <vt:lpstr>Strategy Suggestions and Expected Return: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Gardein’s Growth Strategy: Closing the Gap with Morningstar Farms</dc:title>
  <dc:creator>Nathwani, Raj R</dc:creator>
  <cp:lastModifiedBy>Patil, Ashish Prashant</cp:lastModifiedBy>
  <cp:revision>4</cp:revision>
  <dcterms:created xsi:type="dcterms:W3CDTF">2024-05-02T10:14:08Z</dcterms:created>
  <dcterms:modified xsi:type="dcterms:W3CDTF">2024-05-02T18:58:30Z</dcterms:modified>
</cp:coreProperties>
</file>